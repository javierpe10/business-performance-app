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500BD-B346-CDC8-F4C4-503D2382A66C}" v="49" dt="2026-05-14T17:58:42.715"/>
    <p1510:client id="{446478A1-C37F-A808-87DA-6562900FC9D1}" v="5" dt="2026-05-16T08:05:33.984"/>
    <p1510:client id="{47326187-9916-48A8-86C5-AE435509D28F}" v="14" dt="2026-05-15T19:55:10.773"/>
    <p1510:client id="{979F6A00-7597-9C3D-A74A-89D5D5861132}" v="585" dt="2026-05-14T17:15:11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Peñaloza Tallia" userId="ade92cb11eb2dfb7" providerId="Windows Live" clId="Web-{3FC500BD-B346-CDC8-F4C4-503D2382A66C}"/>
    <pc:docChg chg="delSld modSld">
      <pc:chgData name="Javier Peñaloza Tallia" userId="ade92cb11eb2dfb7" providerId="Windows Live" clId="Web-{3FC500BD-B346-CDC8-F4C4-503D2382A66C}" dt="2026-05-14T17:58:40.528" v="35" actId="20577"/>
      <pc:docMkLst>
        <pc:docMk/>
      </pc:docMkLst>
      <pc:sldChg chg="modSp">
        <pc:chgData name="Javier Peñaloza Tallia" userId="ade92cb11eb2dfb7" providerId="Windows Live" clId="Web-{3FC500BD-B346-CDC8-F4C4-503D2382A66C}" dt="2026-05-14T17:54:51.056" v="16" actId="20577"/>
        <pc:sldMkLst>
          <pc:docMk/>
          <pc:sldMk cId="0" sldId="257"/>
        </pc:sldMkLst>
        <pc:spChg chg="mod">
          <ac:chgData name="Javier Peñaloza Tallia" userId="ade92cb11eb2dfb7" providerId="Windows Live" clId="Web-{3FC500BD-B346-CDC8-F4C4-503D2382A66C}" dt="2026-05-14T17:40:30.133" v="1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Javier Peñaloza Tallia" userId="ade92cb11eb2dfb7" providerId="Windows Live" clId="Web-{3FC500BD-B346-CDC8-F4C4-503D2382A66C}" dt="2026-05-14T17:54:51.056" v="16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">
        <pc:chgData name="Javier Peñaloza Tallia" userId="ade92cb11eb2dfb7" providerId="Windows Live" clId="Web-{3FC500BD-B346-CDC8-F4C4-503D2382A66C}" dt="2026-05-14T17:41:47.462" v="5" actId="20577"/>
        <pc:sldMkLst>
          <pc:docMk/>
          <pc:sldMk cId="0" sldId="259"/>
        </pc:sldMkLst>
        <pc:spChg chg="mod">
          <ac:chgData name="Javier Peñaloza Tallia" userId="ade92cb11eb2dfb7" providerId="Windows Live" clId="Web-{3FC500BD-B346-CDC8-F4C4-503D2382A66C}" dt="2026-05-14T17:41:47.462" v="5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Javier Peñaloza Tallia" userId="ade92cb11eb2dfb7" providerId="Windows Live" clId="Web-{3FC500BD-B346-CDC8-F4C4-503D2382A66C}" dt="2026-05-14T17:58:40.528" v="35" actId="20577"/>
        <pc:sldMkLst>
          <pc:docMk/>
          <pc:sldMk cId="0" sldId="260"/>
        </pc:sldMkLst>
        <pc:spChg chg="mod">
          <ac:chgData name="Javier Peñaloza Tallia" userId="ade92cb11eb2dfb7" providerId="Windows Live" clId="Web-{3FC500BD-B346-CDC8-F4C4-503D2382A66C}" dt="2026-05-14T17:41:52.119" v="6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Javier Peñaloza Tallia" userId="ade92cb11eb2dfb7" providerId="Windows Live" clId="Web-{3FC500BD-B346-CDC8-F4C4-503D2382A66C}" dt="2026-05-14T17:58:27.590" v="33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Javier Peñaloza Tallia" userId="ade92cb11eb2dfb7" providerId="Windows Live" clId="Web-{3FC500BD-B346-CDC8-F4C4-503D2382A66C}" dt="2026-05-14T17:58:40.528" v="35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">
        <pc:chgData name="Javier Peñaloza Tallia" userId="ade92cb11eb2dfb7" providerId="Windows Live" clId="Web-{3FC500BD-B346-CDC8-F4C4-503D2382A66C}" dt="2026-05-14T17:56:57.823" v="28" actId="20577"/>
        <pc:sldMkLst>
          <pc:docMk/>
          <pc:sldMk cId="0" sldId="261"/>
        </pc:sldMkLst>
        <pc:spChg chg="mod">
          <ac:chgData name="Javier Peñaloza Tallia" userId="ade92cb11eb2dfb7" providerId="Windows Live" clId="Web-{3FC500BD-B346-CDC8-F4C4-503D2382A66C}" dt="2026-05-14T17:41:56.212" v="8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avier Peñaloza Tallia" userId="ade92cb11eb2dfb7" providerId="Windows Live" clId="Web-{3FC500BD-B346-CDC8-F4C4-503D2382A66C}" dt="2026-05-14T17:56:57.823" v="28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vier Peñaloza Tallia" userId="ade92cb11eb2dfb7" providerId="Windows Live" clId="Web-{3FC500BD-B346-CDC8-F4C4-503D2382A66C}" dt="2026-05-14T17:56:09.166" v="21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avier Peñaloza Tallia" userId="ade92cb11eb2dfb7" providerId="Windows Live" clId="Web-{3FC500BD-B346-CDC8-F4C4-503D2382A66C}" dt="2026-05-14T17:56:26.510" v="24" actId="1076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Javier Peñaloza Tallia" userId="ade92cb11eb2dfb7" providerId="Windows Live" clId="Web-{3FC500BD-B346-CDC8-F4C4-503D2382A66C}" dt="2026-05-14T17:42:07.056" v="10" actId="20577"/>
        <pc:sldMkLst>
          <pc:docMk/>
          <pc:sldMk cId="0" sldId="262"/>
        </pc:sldMkLst>
        <pc:spChg chg="mod">
          <ac:chgData name="Javier Peñaloza Tallia" userId="ade92cb11eb2dfb7" providerId="Windows Live" clId="Web-{3FC500BD-B346-CDC8-F4C4-503D2382A66C}" dt="2026-05-14T17:42:07.056" v="1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Javier Peñaloza Tallia" userId="ade92cb11eb2dfb7" providerId="Windows Live" clId="Web-{3FC500BD-B346-CDC8-F4C4-503D2382A66C}" dt="2026-05-14T17:42:01.572" v="9" actId="20577"/>
        <pc:sldMkLst>
          <pc:docMk/>
          <pc:sldMk cId="0" sldId="263"/>
        </pc:sldMkLst>
        <pc:spChg chg="mod">
          <ac:chgData name="Javier Peñaloza Tallia" userId="ade92cb11eb2dfb7" providerId="Windows Live" clId="Web-{3FC500BD-B346-CDC8-F4C4-503D2382A66C}" dt="2026-05-14T17:42:01.572" v="9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  <pc:docChgLst>
    <pc:chgData name="Javier Peñaloza Tallia" userId="ade92cb11eb2dfb7" providerId="Windows Live" clId="Web-{979F6A00-7597-9C3D-A74A-89D5D5861132}"/>
    <pc:docChg chg="addSld delSld modSld sldOrd">
      <pc:chgData name="Javier Peñaloza Tallia" userId="ade92cb11eb2dfb7" providerId="Windows Live" clId="Web-{979F6A00-7597-9C3D-A74A-89D5D5861132}" dt="2026-05-14T17:15:11.544" v="343"/>
      <pc:docMkLst>
        <pc:docMk/>
      </pc:docMkLst>
      <pc:sldChg chg="delSp modSp">
        <pc:chgData name="Javier Peñaloza Tallia" userId="ade92cb11eb2dfb7" providerId="Windows Live" clId="Web-{979F6A00-7597-9C3D-A74A-89D5D5861132}" dt="2026-05-14T16:19:21.048" v="53" actId="20577"/>
        <pc:sldMkLst>
          <pc:docMk/>
          <pc:sldMk cId="0" sldId="256"/>
        </pc:sldMkLst>
        <pc:spChg chg="mod">
          <ac:chgData name="Javier Peñaloza Tallia" userId="ade92cb11eb2dfb7" providerId="Windows Live" clId="Web-{979F6A00-7597-9C3D-A74A-89D5D5861132}" dt="2026-05-14T16:17:52.515" v="4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6:18:47.078" v="5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6:19:21.048" v="53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">
        <pc:chgData name="Javier Peñaloza Tallia" userId="ade92cb11eb2dfb7" providerId="Windows Live" clId="Web-{979F6A00-7597-9C3D-A74A-89D5D5861132}" dt="2026-05-14T16:59:41.933" v="208" actId="20577"/>
        <pc:sldMkLst>
          <pc:docMk/>
          <pc:sldMk cId="0" sldId="257"/>
        </pc:sldMkLst>
        <pc:spChg chg="mod">
          <ac:chgData name="Javier Peñaloza Tallia" userId="ade92cb11eb2dfb7" providerId="Windows Live" clId="Web-{979F6A00-7597-9C3D-A74A-89D5D5861132}" dt="2026-05-14T16:21:42.487" v="66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Javier Peñaloza Tallia" userId="ade92cb11eb2dfb7" providerId="Windows Live" clId="Web-{979F6A00-7597-9C3D-A74A-89D5D5861132}" dt="2026-05-14T16:21:30.768" v="65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6:59:36.527" v="20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6:41:53.633" v="203" actId="20577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Javier Peñaloza Tallia" userId="ade92cb11eb2dfb7" providerId="Windows Live" clId="Web-{979F6A00-7597-9C3D-A74A-89D5D5861132}" dt="2026-05-14T16:59:41.933" v="208" actId="20577"/>
          <ac:spMkLst>
            <pc:docMk/>
            <pc:sldMk cId="0" sldId="257"/>
            <ac:spMk id="15" creationId="{DAE07A89-171D-F849-8D69-E6E7AC46D87C}"/>
          </ac:spMkLst>
        </pc:spChg>
      </pc:sldChg>
      <pc:sldChg chg="addSp delSp modSp">
        <pc:chgData name="Javier Peñaloza Tallia" userId="ade92cb11eb2dfb7" providerId="Windows Live" clId="Web-{979F6A00-7597-9C3D-A74A-89D5D5861132}" dt="2026-05-14T17:12:36.714" v="339" actId="20577"/>
        <pc:sldMkLst>
          <pc:docMk/>
          <pc:sldMk cId="0" sldId="261"/>
        </pc:sldMkLst>
        <pc:spChg chg="mod">
          <ac:chgData name="Javier Peñaloza Tallia" userId="ade92cb11eb2dfb7" providerId="Windows Live" clId="Web-{979F6A00-7597-9C3D-A74A-89D5D5861132}" dt="2026-05-14T17:05:28.113" v="258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4:11.658" v="22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2:57.796" v="214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3:02.890" v="215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3:11.609" v="216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3:40.423" v="219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3:46.548" v="220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3:56.595" v="22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4:02.720" v="223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4:18.611" v="226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4:23.674" v="227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09:02.508" v="315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Javier Peñaloza Tallia" userId="ade92cb11eb2dfb7" providerId="Windows Live" clId="Web-{979F6A00-7597-9C3D-A74A-89D5D5861132}" dt="2026-05-14T17:12:36.714" v="339" actId="20577"/>
          <ac:spMkLst>
            <pc:docMk/>
            <pc:sldMk cId="0" sldId="261"/>
            <ac:spMk id="31" creationId="{00000000-0000-0000-0000-000000000000}"/>
          </ac:spMkLst>
        </pc:spChg>
        <pc:spChg chg="add mod">
          <ac:chgData name="Javier Peñaloza Tallia" userId="ade92cb11eb2dfb7" providerId="Windows Live" clId="Web-{979F6A00-7597-9C3D-A74A-89D5D5861132}" dt="2026-05-14T17:10:29.790" v="327" actId="1076"/>
          <ac:spMkLst>
            <pc:docMk/>
            <pc:sldMk cId="0" sldId="261"/>
            <ac:spMk id="33" creationId="{1797FA26-9962-5E5A-9C86-4C3A533C7DB6}"/>
          </ac:spMkLst>
        </pc:spChg>
      </pc:sldChg>
      <pc:sldChg chg="modSp">
        <pc:chgData name="Javier Peñaloza Tallia" userId="ade92cb11eb2dfb7" providerId="Windows Live" clId="Web-{979F6A00-7597-9C3D-A74A-89D5D5861132}" dt="2026-05-14T17:12:58.308" v="340" actId="20577"/>
        <pc:sldMkLst>
          <pc:docMk/>
          <pc:sldMk cId="0" sldId="262"/>
        </pc:sldMkLst>
        <pc:spChg chg="mod">
          <ac:chgData name="Javier Peñaloza Tallia" userId="ade92cb11eb2dfb7" providerId="Windows Live" clId="Web-{979F6A00-7597-9C3D-A74A-89D5D5861132}" dt="2026-05-14T17:12:58.308" v="340" actId="20577"/>
          <ac:spMkLst>
            <pc:docMk/>
            <pc:sldMk cId="0" sldId="262"/>
            <ac:spMk id="3" creationId="{00000000-0000-0000-0000-000000000000}"/>
          </ac:spMkLst>
        </pc:spChg>
      </pc:sldChg>
      <pc:sldChg chg="delSp modSp ord">
        <pc:chgData name="Javier Peñaloza Tallia" userId="ade92cb11eb2dfb7" providerId="Windows Live" clId="Web-{979F6A00-7597-9C3D-A74A-89D5D5861132}" dt="2026-05-14T17:13:04.324" v="341" actId="20577"/>
        <pc:sldMkLst>
          <pc:docMk/>
          <pc:sldMk cId="0" sldId="263"/>
        </pc:sldMkLst>
        <pc:spChg chg="mod">
          <ac:chgData name="Javier Peñaloza Tallia" userId="ade92cb11eb2dfb7" providerId="Windows Live" clId="Web-{979F6A00-7597-9C3D-A74A-89D5D5861132}" dt="2026-05-14T17:13:04.324" v="34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Javier Peñaloza Tallia" userId="ade92cb11eb2dfb7" providerId="Windows Live" clId="Web-{979F6A00-7597-9C3D-A74A-89D5D5861132}" dt="2026-05-14T16:14:34.417" v="3" actId="20577"/>
        <pc:sldMkLst>
          <pc:docMk/>
          <pc:sldMk cId="0" sldId="264"/>
        </pc:sldMkLst>
        <pc:spChg chg="mod">
          <ac:chgData name="Javier Peñaloza Tallia" userId="ade92cb11eb2dfb7" providerId="Windows Live" clId="Web-{979F6A00-7597-9C3D-A74A-89D5D5861132}" dt="2026-05-14T16:14:34.417" v="3" actId="20577"/>
          <ac:spMkLst>
            <pc:docMk/>
            <pc:sldMk cId="0" sldId="264"/>
            <ac:spMk id="6" creationId="{00000000-0000-0000-0000-000000000000}"/>
          </ac:spMkLst>
        </pc:spChg>
      </pc:sldChg>
    </pc:docChg>
  </pc:docChgLst>
  <pc:docChgLst>
    <pc:chgData name="Javier Peñaloza Tallia" userId="ade92cb11eb2dfb7" providerId="Windows Live" clId="Web-{446478A1-C37F-A808-87DA-6562900FC9D1}"/>
    <pc:docChg chg="modSld">
      <pc:chgData name="Javier Peñaloza Tallia" userId="ade92cb11eb2dfb7" providerId="Windows Live" clId="Web-{446478A1-C37F-A808-87DA-6562900FC9D1}" dt="2026-05-16T08:05:29.312" v="1" actId="20577"/>
      <pc:docMkLst>
        <pc:docMk/>
      </pc:docMkLst>
      <pc:sldChg chg="modSp">
        <pc:chgData name="Javier Peñaloza Tallia" userId="ade92cb11eb2dfb7" providerId="Windows Live" clId="Web-{446478A1-C37F-A808-87DA-6562900FC9D1}" dt="2026-05-16T08:05:29.312" v="1" actId="20577"/>
        <pc:sldMkLst>
          <pc:docMk/>
          <pc:sldMk cId="0" sldId="256"/>
        </pc:sldMkLst>
        <pc:spChg chg="mod">
          <ac:chgData name="Javier Peñaloza Tallia" userId="ade92cb11eb2dfb7" providerId="Windows Live" clId="Web-{446478A1-C37F-A808-87DA-6562900FC9D1}" dt="2026-05-16T08:05:29.312" v="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  <pc:docChgLst>
    <pc:chgData name="Javier Peñaloza Tallia" userId="ade92cb11eb2dfb7" providerId="Windows Live" clId="Web-{47326187-9916-48A8-86C5-AE435509D28F}"/>
    <pc:docChg chg="modSld sldOrd">
      <pc:chgData name="Javier Peñaloza Tallia" userId="ade92cb11eb2dfb7" providerId="Windows Live" clId="Web-{47326187-9916-48A8-86C5-AE435509D28F}" dt="2026-05-15T19:55:10.773" v="9"/>
      <pc:docMkLst>
        <pc:docMk/>
      </pc:docMkLst>
      <pc:sldChg chg="modSp">
        <pc:chgData name="Javier Peñaloza Tallia" userId="ade92cb11eb2dfb7" providerId="Windows Live" clId="Web-{47326187-9916-48A8-86C5-AE435509D28F}" dt="2026-05-15T19:53:45.710" v="6" actId="14100"/>
        <pc:sldMkLst>
          <pc:docMk/>
          <pc:sldMk cId="0" sldId="257"/>
        </pc:sldMkLst>
        <pc:spChg chg="mod">
          <ac:chgData name="Javier Peñaloza Tallia" userId="ade92cb11eb2dfb7" providerId="Windows Live" clId="Web-{47326187-9916-48A8-86C5-AE435509D28F}" dt="2026-05-15T19:53:34.366" v="2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Javier Peñaloza Tallia" userId="ade92cb11eb2dfb7" providerId="Windows Live" clId="Web-{47326187-9916-48A8-86C5-AE435509D28F}" dt="2026-05-15T19:53:45.710" v="6" actId="14100"/>
          <ac:spMkLst>
            <pc:docMk/>
            <pc:sldMk cId="0" sldId="257"/>
            <ac:spMk id="6" creationId="{00000000-0000-0000-0000-000000000000}"/>
          </ac:spMkLst>
        </pc:spChg>
      </pc:sldChg>
      <pc:sldChg chg="ord">
        <pc:chgData name="Javier Peñaloza Tallia" userId="ade92cb11eb2dfb7" providerId="Windows Live" clId="Web-{47326187-9916-48A8-86C5-AE435509D28F}" dt="2026-05-15T19:55:10.773" v="9"/>
        <pc:sldMkLst>
          <pc:docMk/>
          <pc:sldMk cId="0" sldId="262"/>
        </pc:sldMkLst>
      </pc:sldChg>
      <pc:sldChg chg="ord">
        <pc:chgData name="Javier Peñaloza Tallia" userId="ade92cb11eb2dfb7" providerId="Windows Live" clId="Web-{47326187-9916-48A8-86C5-AE435509D28F}" dt="2026-05-15T19:54:53.601" v="8"/>
        <pc:sldMkLst>
          <pc:docMk/>
          <pc:sldMk cId="0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ES" sz="1400" b="1">
                <a:solidFill>
                  <a:srgbClr val="1E293B"/>
                </a:solidFill>
                <a:latin typeface="Calibri"/>
              </a:rPr>
              <a:t>Gyms per district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Gyms</c:v>
                </c:pt>
              </c:strCache>
            </c:strRef>
          </c:tx>
          <c:spPr>
            <a:solidFill>
              <a:srgbClr val="E63946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E293B"/>
                    </a:solidFill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Centro</c:v>
                </c:pt>
                <c:pt idx="1">
                  <c:v>San Blas</c:v>
                </c:pt>
                <c:pt idx="2">
                  <c:v>Arganzuela</c:v>
                </c:pt>
                <c:pt idx="3">
                  <c:v>Chamberí</c:v>
                </c:pt>
                <c:pt idx="4">
                  <c:v>Vallecas</c:v>
                </c:pt>
                <c:pt idx="5">
                  <c:v>Retiro</c:v>
                </c:pt>
                <c:pt idx="6">
                  <c:v>Salamanca</c:v>
                </c:pt>
                <c:pt idx="7">
                  <c:v>Chamartín</c:v>
                </c:pt>
                <c:pt idx="8">
                  <c:v>Moncloa</c:v>
                </c:pt>
                <c:pt idx="9">
                  <c:v>Tetuán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</c:v>
                </c:pt>
                <c:pt idx="1">
                  <c:v>23</c:v>
                </c:pt>
                <c:pt idx="2">
                  <c:v>21</c:v>
                </c:pt>
                <c:pt idx="3">
                  <c:v>21</c:v>
                </c:pt>
                <c:pt idx="4">
                  <c:v>18</c:v>
                </c:pt>
                <c:pt idx="5">
                  <c:v>16</c:v>
                </c:pt>
                <c:pt idx="6">
                  <c:v>15</c:v>
                </c:pt>
                <c:pt idx="7">
                  <c:v>15</c:v>
                </c:pt>
                <c:pt idx="8">
                  <c:v>13</c:v>
                </c:pt>
                <c:pt idx="9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30D-4E82-BC34-D9C6A1E55E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endParaRPr lang="es-E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endParaRPr lang="es-E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109728" cy="21031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MODULE 2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100584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5600" b="1">
                <a:solidFill>
                  <a:srgbClr val="FFFFFF"/>
                </a:solidFill>
                <a:latin typeface="Calibri"/>
              </a:rPr>
              <a:t>Business</a:t>
            </a:r>
            <a:r>
              <a:rPr lang="es-ES" sz="5600" b="1" dirty="0">
                <a:solidFill>
                  <a:srgbClr val="FFFFFF"/>
                </a:solidFill>
                <a:latin typeface="Calibri"/>
              </a:rPr>
              <a:t> Project</a:t>
            </a:r>
            <a:endParaRPr lang="es-ES" dirty="0"/>
          </a:p>
        </p:txBody>
      </p:sp>
      <p:sp>
        <p:nvSpPr>
          <p:cNvPr id="6" name="TextBox 5"/>
          <p:cNvSpPr txBox="1"/>
          <p:nvPr/>
        </p:nvSpPr>
        <p:spPr>
          <a:xfrm>
            <a:off x="1280160" y="3749039"/>
            <a:ext cx="100584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Predicting Top Performers App</a:t>
            </a:r>
            <a:endParaRPr lang="es-ES" sz="2400"/>
          </a:p>
          <a:p>
            <a:pPr algn="l"/>
            <a:r>
              <a:rPr lang="es-ES" sz="2200" dirty="0" err="1">
                <a:solidFill>
                  <a:srgbClr val="CBD5E1"/>
                </a:solidFill>
                <a:latin typeface="Calibri"/>
              </a:rPr>
              <a:t>Advisor</a:t>
            </a:r>
            <a:r>
              <a:rPr sz="2200" b="0" i="0" dirty="0">
                <a:solidFill>
                  <a:srgbClr val="CBD5E1"/>
                </a:solidFill>
                <a:latin typeface="Calibri"/>
              </a:rPr>
              <a:t> for new CrossFit gyms in Madrid</a:t>
            </a:r>
            <a:endParaRPr dirty="0"/>
          </a:p>
          <a:p>
            <a:endParaRPr lang="es-ES" sz="2200" dirty="0">
              <a:solidFill>
                <a:srgbClr val="CBD5E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36176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00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The problem</a:t>
            </a:r>
            <a:endParaRPr lang="es-ES" sz="4000"/>
          </a:p>
        </p:txBody>
      </p:sp>
      <p:sp>
        <p:nvSpPr>
          <p:cNvPr id="5" name="TextBox 4"/>
          <p:cNvSpPr txBox="1"/>
          <p:nvPr/>
        </p:nvSpPr>
        <p:spPr>
          <a:xfrm>
            <a:off x="640080" y="1709121"/>
            <a:ext cx="639945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"I </a:t>
            </a:r>
            <a:r>
              <a:rPr lang="es-ES" sz="2000" b="1" dirty="0" err="1">
                <a:solidFill>
                  <a:srgbClr val="E63946"/>
                </a:solidFill>
                <a:ea typeface="+mn-lt"/>
                <a:cs typeface="+mn-lt"/>
              </a:rPr>
              <a:t>want</a:t>
            </a:r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 </a:t>
            </a:r>
            <a:r>
              <a:rPr lang="es-ES" sz="2000" b="1" dirty="0" err="1">
                <a:solidFill>
                  <a:srgbClr val="E63946"/>
                </a:solidFill>
                <a:ea typeface="+mn-lt"/>
                <a:cs typeface="+mn-lt"/>
              </a:rPr>
              <a:t>to</a:t>
            </a:r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 </a:t>
            </a:r>
            <a:r>
              <a:rPr lang="es-ES" sz="2000" b="1" dirty="0" err="1">
                <a:solidFill>
                  <a:srgbClr val="E63946"/>
                </a:solidFill>
                <a:ea typeface="+mn-lt"/>
                <a:cs typeface="+mn-lt"/>
              </a:rPr>
              <a:t>create</a:t>
            </a:r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 a local </a:t>
            </a:r>
            <a:r>
              <a:rPr lang="es-ES" sz="2000" b="1" dirty="0" err="1">
                <a:solidFill>
                  <a:srgbClr val="E63946"/>
                </a:solidFill>
                <a:ea typeface="+mn-lt"/>
                <a:cs typeface="+mn-lt"/>
              </a:rPr>
              <a:t>business</a:t>
            </a:r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, </a:t>
            </a:r>
            <a:r>
              <a:rPr lang="es-ES" sz="2000" b="1" dirty="0" err="1">
                <a:solidFill>
                  <a:srgbClr val="E63946"/>
                </a:solidFill>
                <a:ea typeface="+mn-lt"/>
                <a:cs typeface="+mn-lt"/>
              </a:rPr>
              <a:t>but</a:t>
            </a:r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 </a:t>
            </a:r>
            <a:r>
              <a:rPr lang="es-ES" sz="2000" b="1" dirty="0" err="1">
                <a:solidFill>
                  <a:srgbClr val="E63946"/>
                </a:solidFill>
                <a:ea typeface="+mn-lt"/>
                <a:cs typeface="+mn-lt"/>
              </a:rPr>
              <a:t>will</a:t>
            </a:r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 be </a:t>
            </a:r>
            <a:r>
              <a:rPr lang="es-ES" sz="2000" b="1" dirty="0" err="1">
                <a:solidFill>
                  <a:srgbClr val="E63946"/>
                </a:solidFill>
                <a:ea typeface="+mn-lt"/>
                <a:cs typeface="+mn-lt"/>
              </a:rPr>
              <a:t>successful</a:t>
            </a:r>
            <a:r>
              <a:rPr lang="es-ES" sz="2000" b="1" dirty="0">
                <a:solidFill>
                  <a:srgbClr val="E63946"/>
                </a:solidFill>
                <a:ea typeface="+mn-lt"/>
                <a:cs typeface="+mn-lt"/>
              </a:rPr>
              <a:t>?..."</a:t>
            </a:r>
            <a:endParaRPr lang="es-ES" sz="2000" b="1" dirty="0" err="1"/>
          </a:p>
        </p:txBody>
      </p:sp>
      <p:sp>
        <p:nvSpPr>
          <p:cNvPr id="6" name="TextBox 5"/>
          <p:cNvSpPr txBox="1"/>
          <p:nvPr/>
        </p:nvSpPr>
        <p:spPr>
          <a:xfrm>
            <a:off x="640080" y="2918012"/>
            <a:ext cx="6388249" cy="1600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 Madrid's functional-fitness market has exploded — every entrepreneur wants to open a CrossFit box.</a:t>
            </a:r>
          </a:p>
          <a:p>
            <a:pPr algn="l">
              <a:spcAft>
                <a:spcPts val="800"/>
              </a:spcAft>
            </a:pPr>
            <a:r>
              <a:rPr sz="1400" dirty="0">
                <a:solidFill>
                  <a:srgbClr val="1E293B"/>
                </a:solidFill>
                <a:latin typeface="Calibri"/>
              </a:rPr>
              <a:t>•   But there's no public tool that combines location, pricing, class mix and district demographics.</a:t>
            </a:r>
            <a:endParaRPr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 Decisions are made on gut feeling: "there are plenty of gyms here, I'll add one more".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E293B"/>
                </a:solidFill>
                <a:latin typeface="Calibri"/>
              </a:rPr>
              <a:t>•  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Result</a:t>
            </a:r>
            <a:r>
              <a:rPr sz="1400" dirty="0">
                <a:solidFill>
                  <a:srgbClr val="1E293B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many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boxes open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ES" sz="1400" dirty="0" err="1">
                <a:solidFill>
                  <a:srgbClr val="1E293B"/>
                </a:solidFill>
                <a:latin typeface="Calibri"/>
              </a:rPr>
              <a:t>without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ES" sz="1400" dirty="0" err="1">
                <a:solidFill>
                  <a:srgbClr val="1E293B"/>
                </a:solidFill>
                <a:latin typeface="Calibri"/>
              </a:rPr>
              <a:t>knowing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ES" sz="1400" dirty="0" err="1">
                <a:solidFill>
                  <a:srgbClr val="1E293B"/>
                </a:solidFill>
                <a:latin typeface="Calibri"/>
              </a:rPr>
              <a:t>the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ES" sz="1400" dirty="0" err="1">
                <a:solidFill>
                  <a:srgbClr val="1E293B"/>
                </a:solidFill>
                <a:latin typeface="Calibri"/>
              </a:rPr>
              <a:t>market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ES" sz="1400" dirty="0" err="1">
                <a:solidFill>
                  <a:srgbClr val="1E293B"/>
                </a:solidFill>
                <a:latin typeface="Calibri"/>
              </a:rPr>
              <a:t>or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ES" sz="1400" dirty="0" err="1">
                <a:solidFill>
                  <a:srgbClr val="1E293B"/>
                </a:solidFill>
                <a:latin typeface="Calibri"/>
              </a:rPr>
              <a:t>competitor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s-ES" sz="1400" dirty="0" err="1">
                <a:solidFill>
                  <a:srgbClr val="1E293B"/>
                </a:solidFill>
                <a:latin typeface="Calibri"/>
              </a:rPr>
              <a:t>information</a:t>
            </a:r>
            <a:r>
              <a:rPr lang="es-ES" sz="1400" dirty="0">
                <a:solidFill>
                  <a:srgbClr val="1E293B"/>
                </a:solidFill>
                <a:latin typeface="Calibri"/>
              </a:rPr>
              <a:t>.</a:t>
            </a:r>
            <a:endParaRPr lang="es-ES" sz="1400" dirty="0" err="1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40880" y="2011680"/>
            <a:ext cx="45720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22402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MARKET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5176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>
                <a:solidFill>
                  <a:srgbClr val="E63946"/>
                </a:solidFill>
                <a:latin typeface="Calibri"/>
              </a:rPr>
              <a:t>236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703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  <a:latin typeface="Calibri"/>
              </a:rPr>
              <a:t>gyms collected across Madrid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297680"/>
            <a:ext cx="45720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4400" b="1">
                <a:solidFill>
                  <a:srgbClr val="1E293B"/>
                </a:solidFill>
                <a:latin typeface="Calibri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892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official Madrid districts covered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349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1E293B"/>
                </a:solidFill>
                <a:latin typeface="Calibri"/>
              </a:rPr>
              <a:t>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are "top performers" in their district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DAE07A89-171D-F849-8D69-E6E7AC46D87C}"/>
              </a:ext>
            </a:extLst>
          </p:cNvPr>
          <p:cNvSpPr txBox="1"/>
          <p:nvPr/>
        </p:nvSpPr>
        <p:spPr>
          <a:xfrm>
            <a:off x="640080" y="2314238"/>
            <a:ext cx="63994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600" b="1" dirty="0" err="1">
                <a:solidFill>
                  <a:srgbClr val="E63946"/>
                </a:solidFill>
                <a:ea typeface="Calibri"/>
                <a:cs typeface="Calibri"/>
              </a:rPr>
              <a:t>Let´s</a:t>
            </a:r>
            <a:r>
              <a:rPr lang="es-ES" sz="1600" b="1" dirty="0">
                <a:solidFill>
                  <a:srgbClr val="E63946"/>
                </a:solidFill>
                <a:ea typeface="Calibri"/>
                <a:cs typeface="Calibri"/>
              </a:rPr>
              <a:t> pick a Crossfit </a:t>
            </a:r>
            <a:r>
              <a:rPr lang="es-ES" sz="1600" b="1" dirty="0" err="1">
                <a:solidFill>
                  <a:srgbClr val="E63946"/>
                </a:solidFill>
                <a:ea typeface="Calibri"/>
                <a:cs typeface="Calibri"/>
              </a:rPr>
              <a:t>gym</a:t>
            </a:r>
            <a:r>
              <a:rPr lang="es-ES" sz="1600" b="1" dirty="0">
                <a:solidFill>
                  <a:srgbClr val="E63946"/>
                </a:solidFill>
                <a:ea typeface="Calibri"/>
                <a:cs typeface="Calibri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Calibri"/>
              </a:rPr>
              <a:t>2</a:t>
            </a:r>
            <a:r>
              <a:rPr sz="1200" b="1">
                <a:solidFill>
                  <a:srgbClr val="FFFFFF"/>
                </a:solidFill>
                <a:latin typeface="Calibri"/>
              </a:rPr>
              <a:t>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What the data reveals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74519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874519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PRICE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317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€60 – €235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Wide spread driven by district &amp; service mix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3832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35204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TOP 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84048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63946"/>
                </a:solidFill>
                <a:latin typeface="Calibri"/>
              </a:rPr>
              <a:t>40 / 236  (~17%)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389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Rating ≥ 4.8  AND  reviews ≥ p75 district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8920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5029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DEMOGRAPHICS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34924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6 socioeconomic vars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Income, age, density, education, foreigners…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Calibri"/>
              </a:rPr>
              <a:t>03</a:t>
            </a:r>
            <a:r>
              <a:rPr sz="1200" b="1">
                <a:solidFill>
                  <a:srgbClr val="FFFFFF"/>
                </a:solidFill>
                <a:latin typeface="Calibri"/>
              </a:rPr>
              <a:t> ·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What does "top performer" mean?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9418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93B"/>
                </a:solidFill>
                <a:latin typeface="Calibri"/>
              </a:rPr>
              <a:t>Rating ≥ 4.8     AND     Reviews ≥ p75 of its district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 dirty="0">
                <a:solidFill>
                  <a:srgbClr val="64748B"/>
                </a:solidFill>
                <a:latin typeface="Calibri"/>
              </a:rPr>
              <a:t>Stratified by district — a gym is judged against its local </a:t>
            </a:r>
            <a:r>
              <a:rPr lang="es-ES" sz="1300" i="1" dirty="0" err="1">
                <a:solidFill>
                  <a:srgbClr val="64748B"/>
                </a:solidFill>
                <a:latin typeface="Calibri"/>
              </a:rPr>
              <a:t>competitors</a:t>
            </a:r>
            <a:r>
              <a:rPr sz="1300" b="0" i="1" dirty="0">
                <a:solidFill>
                  <a:srgbClr val="64748B"/>
                </a:solidFill>
                <a:latin typeface="Calibri"/>
              </a:rPr>
              <a:t>, not against the whole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4297680"/>
            <a:ext cx="3017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0967" y="461772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E63946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0967" y="5486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top performers identified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7087" y="4297680"/>
            <a:ext cx="3017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7087" y="4617720"/>
            <a:ext cx="30175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3600" b="1">
                <a:solidFill>
                  <a:srgbClr val="E63946"/>
                </a:solidFill>
                <a:latin typeface="Calibri"/>
              </a:rPr>
              <a:t>22</a:t>
            </a:r>
            <a:r>
              <a:rPr sz="3600" b="1" i="0">
                <a:solidFill>
                  <a:srgbClr val="E63946"/>
                </a:solidFill>
                <a:latin typeface="Calibri"/>
              </a:rPr>
              <a:t> districts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5486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with their own threshold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33207" y="4297680"/>
            <a:ext cx="3017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3207" y="461772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E63946"/>
                </a:solidFill>
                <a:latin typeface="Calibri"/>
              </a:rPr>
              <a:t>p75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3207" y="5486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review threshold per zone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Calibri"/>
              </a:rPr>
              <a:t>04</a:t>
            </a:r>
            <a:r>
              <a:rPr sz="1200" b="1">
                <a:solidFill>
                  <a:srgbClr val="FFFFFF"/>
                </a:solidFill>
                <a:latin typeface="Calibri"/>
              </a:rPr>
              <a:t> ·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XGBoost  ·  honest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3535" y="1460799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Test set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999565" y="2377440"/>
            <a:ext cx="1645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9565" y="2534576"/>
            <a:ext cx="1645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Calibri"/>
              </a:rPr>
              <a:t>0.77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565" y="316767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3087" y="2377440"/>
            <a:ext cx="1645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3087" y="2525643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93B"/>
                </a:solidFill>
                <a:latin typeface="Calibri"/>
              </a:rPr>
              <a:t>0.375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3087" y="316767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6109" y="2332616"/>
            <a:ext cx="1645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6109" y="2522883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E293B"/>
                </a:solidFill>
                <a:latin typeface="Calibri"/>
              </a:rPr>
              <a:t>0.33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6109" y="316767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Precision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2492" y="4317851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b="1" dirty="0">
                <a:solidFill>
                  <a:srgbClr val="E63946"/>
                </a:solidFill>
                <a:latin typeface="Calibri"/>
              </a:rPr>
              <a:t>WOW! Not a </a:t>
            </a:r>
            <a:r>
              <a:rPr lang="es-ES" b="1" dirty="0" err="1">
                <a:solidFill>
                  <a:srgbClr val="E63946"/>
                </a:solidFill>
                <a:latin typeface="Calibri"/>
              </a:rPr>
              <a:t>good</a:t>
            </a:r>
            <a:r>
              <a:rPr lang="es-ES" b="1" dirty="0">
                <a:solidFill>
                  <a:srgbClr val="E63946"/>
                </a:solidFill>
                <a:latin typeface="Calibri"/>
              </a:rPr>
              <a:t> </a:t>
            </a:r>
            <a:r>
              <a:rPr lang="es-ES" b="1" dirty="0" err="1">
                <a:solidFill>
                  <a:srgbClr val="E63946"/>
                </a:solidFill>
                <a:latin typeface="Calibri"/>
              </a:rPr>
              <a:t>result</a:t>
            </a:r>
            <a:r>
              <a:rPr lang="es-ES" b="1" dirty="0">
                <a:solidFill>
                  <a:srgbClr val="E63946"/>
                </a:solidFill>
                <a:latin typeface="Calibri"/>
              </a:rPr>
              <a:t> =(</a:t>
            </a:r>
            <a:endParaRPr b="1" i="0" dirty="0">
              <a:solidFill>
                <a:srgbClr val="E6394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74433" y="4600149"/>
            <a:ext cx="86643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1" dirty="0">
                <a:solidFill>
                  <a:srgbClr val="64748B"/>
                </a:solidFill>
                <a:latin typeface="Calibri"/>
              </a:rPr>
              <a:t>236 </a:t>
            </a:r>
            <a:r>
              <a:rPr sz="1600" b="1" i="1" dirty="0" err="1">
                <a:solidFill>
                  <a:srgbClr val="64748B"/>
                </a:solidFill>
                <a:latin typeface="Calibri"/>
              </a:rPr>
              <a:t>rows</a:t>
            </a:r>
            <a:r>
              <a:rPr sz="1600" b="1" i="1" dirty="0">
                <a:solidFill>
                  <a:srgbClr val="64748B"/>
                </a:solidFill>
                <a:latin typeface="Calibri"/>
              </a:rPr>
              <a:t>  ·  </a:t>
            </a:r>
            <a:r>
              <a:rPr sz="1600" b="1" i="1" dirty="0" err="1">
                <a:solidFill>
                  <a:srgbClr val="64748B"/>
                </a:solidFill>
                <a:latin typeface="Calibri"/>
              </a:rPr>
              <a:t>only</a:t>
            </a:r>
            <a:r>
              <a:rPr sz="1600" b="1" i="1" dirty="0">
                <a:solidFill>
                  <a:srgbClr val="64748B"/>
                </a:solidFill>
                <a:latin typeface="Calibri"/>
              </a:rPr>
              <a:t> 40 positives  ·  </a:t>
            </a:r>
            <a:r>
              <a:rPr sz="1600" b="1" i="1" dirty="0" err="1">
                <a:solidFill>
                  <a:srgbClr val="64748B"/>
                </a:solidFill>
                <a:latin typeface="Calibri"/>
              </a:rPr>
              <a:t>missing</a:t>
            </a:r>
            <a:r>
              <a:rPr sz="1600" b="1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600" b="1" i="1" dirty="0" err="1">
                <a:solidFill>
                  <a:srgbClr val="64748B"/>
                </a:solidFill>
                <a:latin typeface="Calibri"/>
              </a:rPr>
              <a:t>features</a:t>
            </a:r>
            <a:r>
              <a:rPr sz="1600" b="1" i="1" dirty="0">
                <a:solidFill>
                  <a:srgbClr val="64748B"/>
                </a:solidFill>
                <a:latin typeface="Calibri"/>
              </a:rPr>
              <a:t> (</a:t>
            </a:r>
            <a:r>
              <a:rPr sz="1600" b="1" i="1" dirty="0" err="1">
                <a:solidFill>
                  <a:srgbClr val="64748B"/>
                </a:solidFill>
                <a:latin typeface="Calibri"/>
              </a:rPr>
              <a:t>years</a:t>
            </a:r>
            <a:r>
              <a:rPr sz="1600" b="1" i="1" dirty="0">
                <a:solidFill>
                  <a:srgbClr val="64748B"/>
                </a:solidFill>
                <a:latin typeface="Calibri"/>
              </a:rPr>
              <a:t> in </a:t>
            </a:r>
            <a:r>
              <a:rPr sz="1600" b="1" i="1" dirty="0" err="1">
                <a:solidFill>
                  <a:srgbClr val="64748B"/>
                </a:solidFill>
                <a:latin typeface="Calibri"/>
              </a:rPr>
              <a:t>business</a:t>
            </a:r>
            <a:r>
              <a:rPr sz="1600" b="1" i="1" dirty="0">
                <a:solidFill>
                  <a:srgbClr val="64748B"/>
                </a:solidFill>
                <a:latin typeface="Calibri"/>
              </a:rPr>
              <a:t>, social </a:t>
            </a:r>
            <a:r>
              <a:rPr sz="1600" b="1" i="1" dirty="0" err="1">
                <a:solidFill>
                  <a:srgbClr val="64748B"/>
                </a:solidFill>
                <a:latin typeface="Calibri"/>
              </a:rPr>
              <a:t>presence</a:t>
            </a:r>
            <a:r>
              <a:rPr sz="1600" b="1" i="1" dirty="0">
                <a:solidFill>
                  <a:srgbClr val="64748B"/>
                </a:solidFill>
                <a:latin typeface="Calibri"/>
              </a:rPr>
              <a:t>, marketing</a:t>
            </a:r>
            <a:r>
              <a:rPr lang="es-ES" sz="1600" b="1" i="1" dirty="0">
                <a:solidFill>
                  <a:srgbClr val="64748B"/>
                </a:solidFill>
                <a:latin typeface="Calibri"/>
              </a:rPr>
              <a:t>), ETC.</a:t>
            </a:r>
            <a:endParaRPr lang="es-ES" sz="1600" b="1" i="1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1797FA26-9962-5E5A-9C86-4C3A533C7DB6}"/>
              </a:ext>
            </a:extLst>
          </p:cNvPr>
          <p:cNvSpPr txBox="1"/>
          <p:nvPr/>
        </p:nvSpPr>
        <p:spPr>
          <a:xfrm>
            <a:off x="3508786" y="5496710"/>
            <a:ext cx="578313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800" b="1">
                <a:solidFill>
                  <a:srgbClr val="E63946"/>
                </a:solidFill>
                <a:ea typeface="+mn-lt"/>
                <a:cs typeface="+mn-lt"/>
              </a:rPr>
              <a:t>LET´S LOOK FOR IMPROVEMENTS!!</a:t>
            </a:r>
            <a:endParaRPr lang="es-ES" sz="2800" b="1">
              <a:solidFill>
                <a:srgbClr val="E63946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Calibri"/>
              </a:rPr>
              <a:t>05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Where this scales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427" y="1920240"/>
            <a:ext cx="3611880" cy="4023360"/>
          </a:xfrm>
          <a:prstGeom prst="rect">
            <a:avLst/>
          </a:prstGeom>
          <a:solidFill>
            <a:srgbClr val="252933"/>
          </a:solidFill>
          <a:ln w="6350">
            <a:solidFill>
              <a:srgbClr val="3B4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747" y="21945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25603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383280"/>
            <a:ext cx="30632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Years in business (proxy for trust).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Social media presence &amp; followers.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Marketing spend &amp; reach.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Founder / coach reputation.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9907" y="1920240"/>
            <a:ext cx="3611880" cy="4023360"/>
          </a:xfrm>
          <a:prstGeom prst="rect">
            <a:avLst/>
          </a:prstGeom>
          <a:solidFill>
            <a:srgbClr val="252933"/>
          </a:solidFill>
          <a:ln w="6350">
            <a:solidFill>
              <a:srgbClr val="3B4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4227" y="21945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227" y="25603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MORE FITNESS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4227" y="3383280"/>
            <a:ext cx="30632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Yoga &amp; pilates studios.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Conventional commercial gyms.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Calisthenics, boxing, climbing.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Hybrid wellness centres.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0387" y="1920240"/>
            <a:ext cx="3611880" cy="4023360"/>
          </a:xfrm>
          <a:prstGeom prst="rect">
            <a:avLst/>
          </a:prstGeom>
          <a:solidFill>
            <a:srgbClr val="252933"/>
          </a:solidFill>
          <a:ln w="6350">
            <a:solidFill>
              <a:srgbClr val="3B4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04707" y="21945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707" y="25603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MORE CITIES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707" y="3383280"/>
            <a:ext cx="30632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Barcelona, Valencia, Sevilla.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Other European capitals.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Same pipeline, different priors.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 Cross-city benchmarking.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Calibri"/>
              </a:rPr>
              <a:t>06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Live demo: the Top Performer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0292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GYM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District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4480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Salamanca 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Monthly price range (€)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20440"/>
            <a:ext cx="4480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85 — 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Classes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4480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CrossFit · Halterofilia · Yoga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83480"/>
            <a:ext cx="4480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Vestuarios · App propia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32120"/>
            <a:ext cx="4480560" cy="45720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011680"/>
            <a:ext cx="56692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2402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E63946"/>
                </a:solidFill>
                <a:latin typeface="Calibri"/>
              </a:rPr>
              <a:t>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03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probability of becoming a top performer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519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TOP 3 ACTIONS TO 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177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Add service: App propia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6177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+8.4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0292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Add class: Personal Train.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50292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+5.1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4406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Add service: Cafetería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4406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+3.2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468880"/>
            <a:ext cx="109728" cy="1828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889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02336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Javier Peñaloza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180</cp:revision>
  <dcterms:created xsi:type="dcterms:W3CDTF">2013-01-27T09:14:16Z</dcterms:created>
  <dcterms:modified xsi:type="dcterms:W3CDTF">2026-05-16T08:05:37Z</dcterms:modified>
  <cp:category/>
</cp:coreProperties>
</file>